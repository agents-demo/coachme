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56032"/>
            <a:ext cx="11676888" cy="50800"/>
          </a:xfrm>
          <a:prstGeom prst="rect">
            <a:avLst/>
          </a:prstGeom>
          <a:solidFill>
            <a:srgbClr val="CF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116768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</a:rPr>
              <a:t>TopSpin AI Coach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0B4D8"/>
                </a:solidFill>
              </a:rPr>
              <a:t>AI-powered sports coaching  ·  Built on openJiuwen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841248"/>
            <a:ext cx="11676888" cy="12700"/>
          </a:xfrm>
          <a:prstGeom prst="rect">
            <a:avLst/>
          </a:prstGeom>
          <a:solidFill>
            <a:srgbClr val="1E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96112"/>
            <a:ext cx="3520440" cy="5230368"/>
          </a:xfrm>
          <a:prstGeom prst="rect">
            <a:avLst/>
          </a:prstGeom>
          <a:solidFill>
            <a:srgbClr val="1E2E44"/>
          </a:solidFill>
          <a:ln w="6350">
            <a:solidFill>
              <a:srgbClr val="2A3E5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CF0020"/>
                </a:solidFill>
              </a:rPr>
              <a:t>THE PROBLEM  &amp;  THE PRODUCT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E8ECF0"/>
                </a:solidFill>
              </a:rPr>
              <a:t>300M+ recreational racket sport players worldwide. A coach costs $60–120/hr. Most players train alone with zero feedback — repeating the same errors for years.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CF0020"/>
                </a:solidFill>
              </a:rPr>
              <a:t>WHAT IT DOES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Record a practice session. The app analyses the video and returns a coaching report with specific findings tied to timestamps, measured body mechanics, and ranked drills. No human coach involved.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CF0020"/>
                </a:solidFill>
              </a:rPr>
              <a:t>WHAT'S BUILT TODAY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✓  Web app + Android app, both fully functional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✓  Session history, trend analysis, progress comparison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✓  Analysis completes in under 60 seconds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✓  Pre-loaded demo session — no live recording needed for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896112"/>
            <a:ext cx="3520440" cy="5230368"/>
          </a:xfrm>
          <a:prstGeom prst="rect">
            <a:avLst/>
          </a:prstGeom>
          <a:solidFill>
            <a:srgbClr val="1E2E44"/>
          </a:solidFill>
          <a:ln w="6350">
            <a:solidFill>
              <a:srgbClr val="2A3E5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CF0020"/>
                </a:solidFill>
              </a:rPr>
              <a:t>HOW openJiuwen POWERS IT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E8ECF0"/>
                </a:solidFill>
              </a:rPr>
              <a:t>A real multi-step agent — not a chatbot. Four named stages, each a tool call orchestrated by openJiuwen:</a:t>
            </a:r>
          </a:p>
          <a:p>
            <a:pPr algn="l">
              <a:spcBef>
                <a:spcPts val="800"/>
              </a:spcBef>
            </a:pPr>
            <a:r>
              <a:rPr sz="1000" b="1">
                <a:solidFill>
                  <a:srgbClr val="00B4D8"/>
                </a:solidFill>
              </a:rPr>
              <a:t>①  OBSERVE   Frame sampling, motion detection, subject isolation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00B4D8"/>
                </a:solidFill>
              </a:rPr>
              <a:t>②  MEASURE   MediaPipe pose (NPU) · ball tracking · stroke detection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00B4D8"/>
                </a:solidFill>
              </a:rPr>
              <a:t>③  COACH     LLM reasons over measured data, writes grounded findings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00B4D8"/>
                </a:solidFill>
              </a:rPr>
              <a:t>④  VERIFY    Second pass drops any finding not supported by evidence</a:t>
            </a:r>
          </a:p>
          <a:p>
            <a:pPr algn="l">
              <a:spcBef>
                <a:spcPts val="1000"/>
              </a:spcBef>
            </a:pPr>
            <a:r>
              <a:rPr sz="1000" b="0">
                <a:solidFill>
                  <a:srgbClr val="E8ECF0"/>
                </a:solidFill>
              </a:rPr>
              <a:t>The LLM cannot invent findings. Every observation must cite a timestamp and a measured value. This separates it from a generic sports chatbot.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CF0020"/>
                </a:solidFill>
              </a:rPr>
              <a:t>MULTI-MODAL ROADMAP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Today:       Video in → structured report out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Phase 2:    + Voice narration of findings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Phase 3:    + Real-time AR overlay during live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896112"/>
            <a:ext cx="3520440" cy="5230368"/>
          </a:xfrm>
          <a:prstGeom prst="rect">
            <a:avLst/>
          </a:prstGeom>
          <a:solidFill>
            <a:srgbClr val="1E2E44"/>
          </a:solidFill>
          <a:ln w="6350">
            <a:solidFill>
              <a:srgbClr val="00B4D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CF0020"/>
                </a:solidFill>
              </a:rPr>
              <a:t>KIRIN NPU  &amp;  BUSINESS SIGNAL</a:t>
            </a:r>
          </a:p>
          <a:p>
            <a:pPr algn="l">
              <a:spcBef>
                <a:spcPts val="1000"/>
              </a:spcBef>
            </a:pPr>
            <a:r>
              <a:rPr sz="900" b="1">
                <a:solidFill>
                  <a:srgbClr val="00B4D8"/>
                </a:solidFill>
              </a:rPr>
              <a:t>COMPUTE PER USER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MediaPipe pose runs at 30 fps per session — up to 1,800 NPU inference calls. A committed player does this 4–5× per week. Continuous, real-world NPU workload.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On-device (Kirin NPU) mode removes cloud dependency and creates a Huawei-exclusive performance advantage.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00B4D8"/>
                </a:solidFill>
              </a:rPr>
              <a:t>MARKET SIZE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Table tennis:    40M serious recreational players (price-willing)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Badminton:       220M players globally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Tennis + padel:  110M players globally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Same engine, 3× market in one expansion cycle.</a:t>
            </a:r>
          </a:p>
          <a:p>
            <a:pPr algn="l">
              <a:spcBef>
                <a:spcPts val="1200"/>
              </a:spcBef>
            </a:pPr>
            <a:r>
              <a:rPr sz="900" b="1">
                <a:solidFill>
                  <a:srgbClr val="00B4D8"/>
                </a:solidFill>
              </a:rPr>
              <a:t>REVENUE MODEL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E8ECF0"/>
                </a:solidFill>
              </a:rPr>
              <a:t>Free:    3 sessions/month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Pro:     $8–12/month unlimited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E8ECF0"/>
                </a:solidFill>
              </a:rPr>
              <a:t>Club:    $40–80/month per coach</a:t>
            </a:r>
          </a:p>
          <a:p>
            <a:pPr algn="l">
              <a:spcBef>
                <a:spcPts val="800"/>
              </a:spcBef>
            </a:pPr>
            <a:r>
              <a:rPr sz="1000" b="1">
                <a:solidFill>
                  <a:srgbClr val="FFFFFF"/>
                </a:solidFill>
              </a:rPr>
              <a:t>0.1% of TT segment at $10/mo  =  ~$40M ARR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6601968"/>
            <a:ext cx="11676888" cy="19050"/>
          </a:xfrm>
          <a:prstGeom prst="rect">
            <a:avLst/>
          </a:prstGeom>
          <a:solidFill>
            <a:srgbClr val="CF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6611112"/>
            <a:ext cx="116768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07590"/>
                </a:solidFill>
              </a:rPr>
              <a:t>CONFIDENTIAL  ·  Huawei Internal  ·  TopSpin AI Coach  ·  openJiuwen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256032"/>
            <a:ext cx="11676888" cy="50800"/>
          </a:xfrm>
          <a:prstGeom prst="rect">
            <a:avLst/>
          </a:prstGeom>
          <a:solidFill>
            <a:srgbClr val="CF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09728"/>
            <a:ext cx="116768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</a:rPr>
              <a:t>Roadmap  &amp;  Strategic Ask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0B4D8"/>
                </a:solidFill>
              </a:rPr>
              <a:t>From working demo to product  ·  What Huawei gains  ·  What we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" y="841248"/>
            <a:ext cx="11676888" cy="12700"/>
          </a:xfrm>
          <a:prstGeom prst="rect">
            <a:avLst/>
          </a:prstGeom>
          <a:solidFill>
            <a:srgbClr val="1E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896112"/>
            <a:ext cx="3520440" cy="2926080"/>
          </a:xfrm>
          <a:prstGeom prst="rect">
            <a:avLst/>
          </a:prstGeom>
          <a:solidFill>
            <a:srgbClr val="1E2E44"/>
          </a:solidFill>
          <a:ln w="6350">
            <a:solidFill>
              <a:srgbClr val="00B4D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00B4D8"/>
                </a:solidFill>
              </a:rPr>
              <a:t>01</a:t>
            </a:r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Demo → Bulletproof Demo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0B4D8"/>
                </a:solidFill>
              </a:rPr>
              <a:t>4–6 weeks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E8ECF0"/>
                </a:solidFill>
              </a:rPr>
              <a:t>·  openJiuwen pipeline integration — named tool calls, fully observable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Every report is specific and timestamp-cited, no generic fallback path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Multi-session comparison in the UI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Analysis under 45 s · PDF export · Share to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896112"/>
            <a:ext cx="3520440" cy="2926080"/>
          </a:xfrm>
          <a:prstGeom prst="rect">
            <a:avLst/>
          </a:prstGeom>
          <a:solidFill>
            <a:srgbClr val="1E2E44"/>
          </a:solidFill>
          <a:ln w="6350">
            <a:solidFill>
              <a:srgbClr val="00B4D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00B4D8"/>
                </a:solidFill>
              </a:rPr>
              <a:t>02</a:t>
            </a:r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MVP with Real Users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0B4D8"/>
                </a:solidFill>
              </a:rPr>
              <a:t>6–10 weeks after Phase 1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E8ECF0"/>
                </a:solidFill>
              </a:rPr>
              <a:t>·  Cloud accounts + cross-device sync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Subscription payments live (Pro + Club)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Stroke-type classifier: forehand / backhand / serve auto-detected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Target: 50 paying users within 4 weeks of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896112"/>
            <a:ext cx="3520440" cy="2926080"/>
          </a:xfrm>
          <a:prstGeom prst="rect">
            <a:avLst/>
          </a:prstGeom>
          <a:solidFill>
            <a:srgbClr val="1E2E44"/>
          </a:solidFill>
          <a:ln w="6350">
            <a:solidFill>
              <a:srgbClr val="00B4D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00B4D8"/>
                </a:solidFill>
              </a:rPr>
              <a:t>03</a:t>
            </a:r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Platform Expansion</a:t>
            </a:r>
          </a:p>
          <a:p>
            <a:pPr algn="l">
              <a:spcBef>
                <a:spcPts val="100"/>
              </a:spcBef>
            </a:pPr>
            <a:r>
              <a:rPr sz="900" b="0">
                <a:solidFill>
                  <a:srgbClr val="00B4D8"/>
                </a:solidFill>
              </a:rPr>
              <a:t>3–5 months after Phase 2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E8ECF0"/>
                </a:solidFill>
              </a:rPr>
              <a:t>·  Kirin NPU on-device mode — offline, Huawei-exclusive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Table detection: real-world shot placement, position maps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Voice coaching: LLM narrates findings as spoken audio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E8ECF0"/>
                </a:solidFill>
              </a:rPr>
              <a:t>·  Expand to tennis + badminton — 3×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986784"/>
            <a:ext cx="5737860" cy="2551176"/>
          </a:xfrm>
          <a:prstGeom prst="rect">
            <a:avLst/>
          </a:prstGeom>
          <a:solidFill>
            <a:srgbClr val="1E2E44"/>
          </a:solidFill>
          <a:ln w="6350">
            <a:solidFill>
              <a:srgbClr val="2A3E5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CF0020"/>
                </a:solidFill>
              </a:rPr>
              <a:t>WHAT HUAWEI GAINS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00B4D8"/>
                </a:solidFill>
              </a:rPr>
              <a:t>openJiuwen reference app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A vertical agent that demonstrates perceive → reason → generate across real modalities. Sports coaching is easy to understand and impossible to fake.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00B4D8"/>
                </a:solidFill>
              </a:rPr>
              <a:t>Kirin NPU proof point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1,800+ NPU calls per user session from daily real-world use — not a benchmark. On-device mode is a differentiator exclusive to Kirin hardware.</a:t>
            </a:r>
          </a:p>
          <a:p>
            <a:pPr algn="l">
              <a:spcBef>
                <a:spcPts val="800"/>
              </a:spcBef>
            </a:pPr>
            <a:r>
              <a:rPr sz="900" b="1">
                <a:solidFill>
                  <a:srgbClr val="00B4D8"/>
                </a:solidFill>
              </a:rPr>
              <a:t>HarmonyOS ecosystem signal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An AI-native app with 4–5× weekly retention. Demonstrates that developers build meaningful AI applications for Huawei devices — not just ported Android apps.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5060" y="3986784"/>
            <a:ext cx="5737860" cy="2551176"/>
          </a:xfrm>
          <a:prstGeom prst="rect">
            <a:avLst/>
          </a:prstGeom>
          <a:solidFill>
            <a:srgbClr val="1E2E44"/>
          </a:solidFill>
          <a:ln w="6350">
            <a:solidFill>
              <a:srgbClr val="00B4D8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CF0020"/>
                </a:solidFill>
              </a:rPr>
              <a:t>WHAT WE NEED TO PROCEED</a:t>
            </a:r>
          </a:p>
          <a:p>
            <a:pPr algn="l">
              <a:spcBef>
                <a:spcPts val="1000"/>
              </a:spcBef>
            </a:pPr>
            <a:r>
              <a:rPr sz="1000" b="1">
                <a:solidFill>
                  <a:srgbClr val="00B4D8"/>
                </a:solidFill>
              </a:rPr>
              <a:t>1.  Approval for Phase 1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Single engineer, 4–6 weeks</a:t>
            </a:r>
          </a:p>
          <a:p>
            <a:pPr algn="l">
              <a:spcBef>
                <a:spcPts val="1000"/>
              </a:spcBef>
            </a:pPr>
            <a:r>
              <a:rPr sz="1000" b="1">
                <a:solidFill>
                  <a:srgbClr val="00B4D8"/>
                </a:solidFill>
              </a:rPr>
              <a:t>2.  openJiuwen API access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For Phase 1 pipeline integration</a:t>
            </a:r>
          </a:p>
          <a:p>
            <a:pPr algn="l">
              <a:spcBef>
                <a:spcPts val="1000"/>
              </a:spcBef>
            </a:pPr>
            <a:r>
              <a:rPr sz="1000" b="1">
                <a:solidFill>
                  <a:srgbClr val="00B4D8"/>
                </a:solidFill>
              </a:rPr>
              <a:t>3.  Kirin NPU SDK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MediaPipe optimisation guidance for on-device mode in Phase 3</a:t>
            </a:r>
          </a:p>
          <a:p>
            <a:pPr algn="l">
              <a:spcBef>
                <a:spcPts val="1000"/>
              </a:spcBef>
            </a:pPr>
            <a:r>
              <a:rPr sz="1000" b="1">
                <a:solidFill>
                  <a:srgbClr val="00B4D8"/>
                </a:solidFill>
              </a:rPr>
              <a:t>4.  UX / UI design pass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E8ECF0"/>
                </a:solidFill>
              </a:rPr>
              <a:t>Align visual language with Huawei product standards before external exposure</a:t>
            </a:r>
          </a:p>
          <a:p>
            <a:pPr algn="l">
              <a:spcBef>
                <a:spcPts val="1400"/>
              </a:spcBef>
            </a:pPr>
            <a:r>
              <a:rPr sz="1000" b="1">
                <a:solidFill>
                  <a:srgbClr val="FFFFFF"/>
                </a:solidFill>
              </a:rPr>
              <a:t>Everything else is already built and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6601968"/>
            <a:ext cx="11676888" cy="19050"/>
          </a:xfrm>
          <a:prstGeom prst="rect">
            <a:avLst/>
          </a:prstGeom>
          <a:solidFill>
            <a:srgbClr val="CF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6611112"/>
            <a:ext cx="116768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07590"/>
                </a:solidFill>
              </a:rPr>
              <a:t>CONFIDENTIAL  ·  Huawei Internal  ·  TopSpin AI Coach  ·  openJiuwen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