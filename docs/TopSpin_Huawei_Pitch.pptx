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F3C"/>
        </a:solidFill>
        <a:effectLst/>
      </p:bgPr>
    </p:bg>
    <p:spTree>
      <p:nvGrpSpPr>
        <p:cNvPr id="1" name=""/>
        <p:cNvGrpSpPr/>
        <p:nvPr/>
      </p:nvGrpSpPr>
      <p:grpSpPr/>
      <p:sp>
        <p:nvSpPr>
          <p:cNvPr id="2" name="Rectangle 1"/>
          <p:cNvSpPr/>
          <p:nvPr/>
        </p:nvSpPr>
        <p:spPr>
          <a:xfrm>
            <a:off x="201168" y="201168"/>
            <a:ext cx="11786616" cy="54864"/>
          </a:xfrm>
          <a:prstGeom prst="rect">
            <a:avLst/>
          </a:prstGeom>
          <a:solidFill>
            <a:srgbClr val="CF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11786616" cy="640080"/>
          </a:xfrm>
          <a:prstGeom prst="rect">
            <a:avLst/>
          </a:prstGeom>
          <a:noFill/>
        </p:spPr>
        <p:txBody>
          <a:bodyPr wrap="square">
            <a:spAutoFit/>
          </a:bodyPr>
          <a:lstStyle/>
          <a:p>
            <a:pPr algn="l">
              <a:spcBef>
                <a:spcPts val="0"/>
              </a:spcBef>
            </a:pPr>
            <a:r>
              <a:rPr sz="2600" b="1">
                <a:solidFill>
                  <a:srgbClr val="FFFFFF"/>
                </a:solidFill>
              </a:rPr>
              <a:t>TopSpin AI Coach  ·  Powered by openJiuwen</a:t>
            </a:r>
          </a:p>
          <a:p>
            <a:pPr algn="l">
              <a:spcBef>
                <a:spcPts val="200"/>
              </a:spcBef>
            </a:pPr>
            <a:r>
              <a:rPr sz="1200" b="0">
                <a:solidFill>
                  <a:srgbClr val="E8ECF0"/>
                </a:solidFill>
              </a:rPr>
              <a:t>AI-Native Sports Coaching Platform  |  Huawei Business Opportunity Briefing</a:t>
            </a:r>
          </a:p>
        </p:txBody>
      </p:sp>
      <p:sp>
        <p:nvSpPr>
          <p:cNvPr id="4" name="Rectangle 3"/>
          <p:cNvSpPr/>
          <p:nvPr/>
        </p:nvSpPr>
        <p:spPr>
          <a:xfrm>
            <a:off x="201168" y="804672"/>
            <a:ext cx="11786616" cy="16459"/>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868680"/>
            <a:ext cx="3703320" cy="5788152"/>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THE PROBLEM</a:t>
            </a:r>
          </a:p>
          <a:p>
            <a:pPr algn="l">
              <a:spcBef>
                <a:spcPts val="0"/>
              </a:spcBef>
            </a:pPr>
            <a:r>
              <a:rPr sz="400" b="0">
                <a:solidFill>
                  <a:srgbClr val="FFFFFF"/>
                </a:solidFill>
              </a:rPr>
              <a:t/>
            </a:r>
          </a:p>
          <a:p>
            <a:pPr algn="l">
              <a:spcBef>
                <a:spcPts val="0"/>
              </a:spcBef>
            </a:pPr>
            <a:r>
              <a:rPr sz="1000" b="0">
                <a:solidFill>
                  <a:srgbClr val="E8ECF0"/>
                </a:solidFill>
              </a:rPr>
              <a:t>A qualified table tennis coach charges $60–120 per hour. The vast majority of recreational players — estimated at 300 million worldwide across racket sports — practice multiple times per week with zero expert feedback. They repeat the same mechanical errors for years. There is no scalable solution that provides personalised, video-grounded coaching at a price recreational players can afford.</a:t>
            </a:r>
          </a:p>
          <a:p>
            <a:pPr algn="l">
              <a:spcBef>
                <a:spcPts val="0"/>
              </a:spcBef>
            </a:pPr>
            <a:r>
              <a:rPr sz="500" b="0">
                <a:solidFill>
                  <a:srgbClr val="FFFFFF"/>
                </a:solidFill>
              </a:rPr>
              <a:t/>
            </a:r>
          </a:p>
          <a:p>
            <a:pPr algn="l">
              <a:spcBef>
                <a:spcPts val="0"/>
              </a:spcBef>
            </a:pPr>
            <a:r>
              <a:rPr sz="900" b="1">
                <a:solidFill>
                  <a:srgbClr val="CF0020"/>
                </a:solidFill>
              </a:rPr>
              <a:t>WHAT THE APP DOES</a:t>
            </a:r>
          </a:p>
          <a:p>
            <a:pPr algn="l">
              <a:spcBef>
                <a:spcPts val="0"/>
              </a:spcBef>
            </a:pPr>
            <a:r>
              <a:rPr sz="400" b="0">
                <a:solidFill>
                  <a:srgbClr val="FFFFFF"/>
                </a:solidFill>
              </a:rPr>
              <a:t/>
            </a:r>
          </a:p>
          <a:p>
            <a:pPr algn="l">
              <a:spcBef>
                <a:spcPts val="0"/>
              </a:spcBef>
            </a:pPr>
            <a:r>
              <a:rPr sz="1000" b="0">
                <a:solidFill>
                  <a:srgbClr val="E8ECF0"/>
                </a:solidFill>
              </a:rPr>
              <a:t>The user records a practice session on any smartphone. The app analyses the video and returns a full coaching report: specific technique findings tied to exact timestamps, measured body mechanics (knee angle, elbow angle, torso lean, footwork range), and personalised drills ranked by impact. No human coach is involved. The AI watches the footage and writes what a coach would say.</a:t>
            </a:r>
          </a:p>
          <a:p>
            <a:pPr algn="l">
              <a:spcBef>
                <a:spcPts val="0"/>
              </a:spcBef>
            </a:pPr>
            <a:r>
              <a:rPr sz="500" b="0">
                <a:solidFill>
                  <a:srgbClr val="FFFFFF"/>
                </a:solidFill>
              </a:rPr>
              <a:t/>
            </a:r>
          </a:p>
          <a:p>
            <a:pPr algn="l">
              <a:spcBef>
                <a:spcPts val="0"/>
              </a:spcBef>
            </a:pPr>
            <a:r>
              <a:rPr sz="900" b="1">
                <a:solidFill>
                  <a:srgbClr val="CF0020"/>
                </a:solidFill>
              </a:rPr>
              <a:t>CURRENT STATE</a:t>
            </a:r>
          </a:p>
          <a:p>
            <a:pPr algn="l">
              <a:spcBef>
                <a:spcPts val="0"/>
              </a:spcBef>
            </a:pPr>
            <a:r>
              <a:rPr sz="400" b="0">
                <a:solidFill>
                  <a:srgbClr val="FFFFFF"/>
                </a:solidFill>
              </a:rPr>
              <a:t/>
            </a:r>
          </a:p>
          <a:p>
            <a:pPr algn="l">
              <a:spcBef>
                <a:spcPts val="0"/>
              </a:spcBef>
            </a:pPr>
            <a:r>
              <a:rPr sz="1000" b="0">
                <a:solidFill>
                  <a:srgbClr val="E8ECF0"/>
                </a:solidFill>
              </a:rPr>
              <a:t>✓  Web app (SvelteKit) + Android native app — both fully functional</a:t>
            </a:r>
          </a:p>
          <a:p>
            <a:pPr algn="l">
              <a:spcBef>
                <a:spcPts val="0"/>
              </a:spcBef>
            </a:pPr>
            <a:r>
              <a:rPr sz="1000" b="0">
                <a:solidFill>
                  <a:srgbClr val="E8ECF0"/>
                </a:solidFill>
              </a:rPr>
              <a:t>✓  End-to-end pipeline: video → pose detection → ball tracking → AI coaching report</a:t>
            </a:r>
          </a:p>
          <a:p>
            <a:pPr algn="l">
              <a:spcBef>
                <a:spcPts val="0"/>
              </a:spcBef>
            </a:pPr>
            <a:r>
              <a:rPr sz="1000" b="0">
                <a:solidFill>
                  <a:srgbClr val="E8ECF0"/>
                </a:solidFill>
              </a:rPr>
              <a:t>✓  Session history, progress tracking across multiple sessions, trend analysis</a:t>
            </a:r>
          </a:p>
          <a:p>
            <a:pPr algn="l">
              <a:spcBef>
                <a:spcPts val="0"/>
              </a:spcBef>
            </a:pPr>
            <a:r>
              <a:rPr sz="1000" b="0">
                <a:solidFill>
                  <a:srgbClr val="E8ECF0"/>
                </a:solidFill>
              </a:rPr>
              <a:t>✓  Demo report live: real 10-second training clip analysed to 5 specific coaching findings with timestamp citations, 3 measured biomechanical metrics, 5 targeted drills</a:t>
            </a:r>
          </a:p>
          <a:p>
            <a:pPr algn="l">
              <a:spcBef>
                <a:spcPts val="0"/>
              </a:spcBef>
            </a:pPr>
            <a:r>
              <a:rPr sz="1000" b="0">
                <a:solidFill>
                  <a:srgbClr val="E8ECF0"/>
                </a:solidFill>
              </a:rPr>
              <a:t>✓  Bundled demo auto-loads on first launch — no analysis step required for presentation</a:t>
            </a:r>
          </a:p>
        </p:txBody>
      </p:sp>
      <p:sp>
        <p:nvSpPr>
          <p:cNvPr id="6" name="TextBox 5"/>
          <p:cNvSpPr txBox="1"/>
          <p:nvPr/>
        </p:nvSpPr>
        <p:spPr>
          <a:xfrm>
            <a:off x="4069080" y="868680"/>
            <a:ext cx="3703320" cy="5788152"/>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OPENJIUWEN AGENTIC PIPELINE</a:t>
            </a:r>
          </a:p>
          <a:p>
            <a:pPr algn="l">
              <a:spcBef>
                <a:spcPts val="0"/>
              </a:spcBef>
            </a:pPr>
            <a:r>
              <a:rPr sz="400" b="0">
                <a:solidFill>
                  <a:srgbClr val="FFFFFF"/>
                </a:solidFill>
              </a:rPr>
              <a:t/>
            </a:r>
          </a:p>
          <a:p>
            <a:pPr algn="l">
              <a:spcBef>
                <a:spcPts val="0"/>
              </a:spcBef>
            </a:pPr>
            <a:r>
              <a:rPr sz="1000" b="0">
                <a:solidFill>
                  <a:srgbClr val="E8ECF0"/>
                </a:solidFill>
              </a:rPr>
              <a:t>Every analysis session runs a structured multi-step agent orchestrated by openJiuwen:</a:t>
            </a:r>
          </a:p>
          <a:p>
            <a:pPr algn="l">
              <a:spcBef>
                <a:spcPts val="0"/>
              </a:spcBef>
            </a:pPr>
            <a:r>
              <a:rPr sz="300" b="0">
                <a:solidFill>
                  <a:srgbClr val="FFFFFF"/>
                </a:solidFill>
              </a:rPr>
              <a:t/>
            </a:r>
          </a:p>
          <a:p>
            <a:pPr algn="l">
              <a:spcBef>
                <a:spcPts val="200"/>
              </a:spcBef>
            </a:pPr>
            <a:r>
              <a:rPr sz="1000" b="1">
                <a:solidFill>
                  <a:srgbClr val="00B4D8"/>
                </a:solidFill>
              </a:rPr>
              <a:t>① OBSERVE   Frame sampling, motion mask, subject isolation</a:t>
            </a:r>
          </a:p>
          <a:p>
            <a:pPr algn="l">
              <a:spcBef>
                <a:spcPts val="200"/>
              </a:spcBef>
            </a:pPr>
            <a:r>
              <a:rPr sz="1000" b="1">
                <a:solidFill>
                  <a:srgbClr val="00B4D8"/>
                </a:solidFill>
              </a:rPr>
              <a:t>② MEASURE   MediaPipe pose (NPU), ball trajectory tracking, stroke detection</a:t>
            </a:r>
          </a:p>
          <a:p>
            <a:pPr algn="l">
              <a:spcBef>
                <a:spcPts val="200"/>
              </a:spcBef>
            </a:pPr>
            <a:r>
              <a:rPr sz="1000" b="1">
                <a:solidFill>
                  <a:srgbClr val="00B4D8"/>
                </a:solidFill>
              </a:rPr>
              <a:t>③ COACH     LLM reasons over measured data, writes grounded report with timestamp citations</a:t>
            </a:r>
          </a:p>
          <a:p>
            <a:pPr algn="l">
              <a:spcBef>
                <a:spcPts val="200"/>
              </a:spcBef>
            </a:pPr>
            <a:r>
              <a:rPr sz="1000" b="1">
                <a:solidFill>
                  <a:srgbClr val="00B4D8"/>
                </a:solidFill>
              </a:rPr>
              <a:t>④ VERIFY    Second LLM pass drops any finding not supported by measured evidence</a:t>
            </a:r>
          </a:p>
          <a:p>
            <a:pPr algn="l">
              <a:spcBef>
                <a:spcPts val="0"/>
              </a:spcBef>
            </a:pPr>
            <a:r>
              <a:rPr sz="300" b="0">
                <a:solidFill>
                  <a:srgbClr val="FFFFFF"/>
                </a:solidFill>
              </a:rPr>
              <a:t/>
            </a:r>
          </a:p>
          <a:p>
            <a:pPr algn="l">
              <a:spcBef>
                <a:spcPts val="0"/>
              </a:spcBef>
            </a:pPr>
            <a:r>
              <a:rPr sz="1000" b="0">
                <a:solidFill>
                  <a:srgbClr val="E8ECF0"/>
                </a:solidFill>
              </a:rPr>
              <a:t>Each stage is a named tool call inside openJiuwen — fully observable, restartable, and improvable independently. This is not a chatbot. The LLM cannot invent findings: it is forced to cite the timestamps and measurements from the CV pipeline.</a:t>
            </a:r>
          </a:p>
          <a:p>
            <a:pPr algn="l">
              <a:spcBef>
                <a:spcPts val="0"/>
              </a:spcBef>
            </a:pPr>
            <a:r>
              <a:rPr sz="500" b="0">
                <a:solidFill>
                  <a:srgbClr val="FFFFFF"/>
                </a:solidFill>
              </a:rPr>
              <a:t/>
            </a:r>
          </a:p>
          <a:p>
            <a:pPr algn="l">
              <a:spcBef>
                <a:spcPts val="0"/>
              </a:spcBef>
            </a:pPr>
            <a:r>
              <a:rPr sz="900" b="1">
                <a:solidFill>
                  <a:srgbClr val="CF0020"/>
                </a:solidFill>
              </a:rPr>
              <a:t>MULTI-MODAL — TODAY AND ROADMAP</a:t>
            </a:r>
          </a:p>
          <a:p>
            <a:pPr algn="l">
              <a:spcBef>
                <a:spcPts val="0"/>
              </a:spcBef>
            </a:pPr>
            <a:r>
              <a:rPr sz="400" b="0">
                <a:solidFill>
                  <a:srgbClr val="FFFFFF"/>
                </a:solidFill>
              </a:rPr>
              <a:t/>
            </a:r>
          </a:p>
          <a:p>
            <a:pPr algn="l">
              <a:spcBef>
                <a:spcPts val="0"/>
              </a:spcBef>
            </a:pPr>
            <a:r>
              <a:rPr sz="1000" b="0">
                <a:solidFill>
                  <a:srgbClr val="E8ECF0"/>
                </a:solidFill>
              </a:rPr>
              <a:t>Input:    Video frames (vision modality)</a:t>
            </a:r>
          </a:p>
          <a:p>
            <a:pPr algn="l">
              <a:spcBef>
                <a:spcPts val="0"/>
              </a:spcBef>
            </a:pPr>
            <a:r>
              <a:rPr sz="1000" b="0">
                <a:solidFill>
                  <a:srgbClr val="E8ECF0"/>
                </a:solidFill>
              </a:rPr>
              <a:t>Output:  Structured text report + biomechanical metrics + drill cards</a:t>
            </a:r>
          </a:p>
          <a:p>
            <a:pPr algn="l">
              <a:spcBef>
                <a:spcPts val="0"/>
              </a:spcBef>
            </a:pPr>
            <a:r>
              <a:rPr sz="1000" b="0">
                <a:solidFill>
                  <a:srgbClr val="E8ECF0"/>
                </a:solidFill>
              </a:rPr>
              <a:t>→ Next:  Voice narration of findings (audio output, third modality)</a:t>
            </a:r>
          </a:p>
          <a:p>
            <a:pPr algn="l">
              <a:spcBef>
                <a:spcPts val="0"/>
              </a:spcBef>
            </a:pPr>
            <a:r>
              <a:rPr sz="1000" b="0">
                <a:solidFill>
                  <a:srgbClr val="E8ECF0"/>
                </a:solidFill>
              </a:rPr>
              <a:t>→ Next:  Real-time AR overlay during live play (vision + AR, fourth modality)</a:t>
            </a:r>
          </a:p>
          <a:p>
            <a:pPr algn="l">
              <a:spcBef>
                <a:spcPts val="0"/>
              </a:spcBef>
            </a:pPr>
            <a:r>
              <a:rPr sz="500" b="0">
                <a:solidFill>
                  <a:srgbClr val="FFFFFF"/>
                </a:solidFill>
              </a:rPr>
              <a:t/>
            </a:r>
          </a:p>
          <a:p>
            <a:pPr algn="l">
              <a:spcBef>
                <a:spcPts val="0"/>
              </a:spcBef>
            </a:pPr>
            <a:r>
              <a:rPr sz="900" b="1">
                <a:solidFill>
                  <a:srgbClr val="CF0020"/>
                </a:solidFill>
              </a:rPr>
              <a:t>KIRIN NPU OPPORTUNITY</a:t>
            </a:r>
          </a:p>
          <a:p>
            <a:pPr algn="l">
              <a:spcBef>
                <a:spcPts val="0"/>
              </a:spcBef>
            </a:pPr>
            <a:r>
              <a:rPr sz="400" b="0">
                <a:solidFill>
                  <a:srgbClr val="FFFFFF"/>
                </a:solidFill>
              </a:rPr>
              <a:t/>
            </a:r>
          </a:p>
          <a:p>
            <a:pPr algn="l">
              <a:spcBef>
                <a:spcPts val="0"/>
              </a:spcBef>
            </a:pPr>
            <a:r>
              <a:rPr sz="1000" b="0">
                <a:solidFill>
                  <a:srgbClr val="E8ECF0"/>
                </a:solidFill>
              </a:rPr>
              <a:t>MediaPipe pose estimation runs per-frame on every video. At 30fps on a 60-second clip that is 1,800 NPU inference calls per session. A committed player analyses 4–5 sessions per week. This is continuous, meaningful NPU workload from real daily use — not a synthetic benchmark. Moving pose inference fully on-device (Kirin NPU) removes cloud dependency, reduces latency, and creates a clear Huawei device differentiator that cannot be replicated on non-Kirin hardware.</a:t>
            </a:r>
          </a:p>
        </p:txBody>
      </p:sp>
      <p:sp>
        <p:nvSpPr>
          <p:cNvPr id="7" name="TextBox 6"/>
          <p:cNvSpPr txBox="1"/>
          <p:nvPr/>
        </p:nvSpPr>
        <p:spPr>
          <a:xfrm>
            <a:off x="7936992" y="868680"/>
            <a:ext cx="4050792" cy="5788152"/>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LIVE DEMO OUTPUT EXAMPLE</a:t>
            </a:r>
          </a:p>
          <a:p>
            <a:pPr algn="l">
              <a:spcBef>
                <a:spcPts val="0"/>
              </a:spcBef>
            </a:pPr>
            <a:r>
              <a:rPr sz="400" b="0">
                <a:solidFill>
                  <a:srgbClr val="FFFFFF"/>
                </a:solidFill>
              </a:rPr>
              <a:t/>
            </a:r>
          </a:p>
          <a:p>
            <a:pPr algn="l">
              <a:spcBef>
                <a:spcPts val="0"/>
              </a:spcBef>
            </a:pPr>
            <a:r>
              <a:rPr sz="900" b="0">
                <a:solidFill>
                  <a:srgbClr val="E8ECF0"/>
                </a:solidFill>
              </a:rPr>
              <a:t>The following findings were produced by analysing a real 10-second club training clip (left-handed player, backhand topspin drill). All observations are grounded in measured data — no generic advice.</a:t>
            </a:r>
          </a:p>
          <a:p>
            <a:pPr algn="l">
              <a:spcBef>
                <a:spcPts val="0"/>
              </a:spcBef>
            </a:pPr>
            <a:r>
              <a:rPr sz="400" b="0">
                <a:solidFill>
                  <a:srgbClr val="FFFFFF"/>
                </a:solidFill>
              </a:rPr>
              <a:t/>
            </a:r>
          </a:p>
          <a:p>
            <a:pPr algn="l">
              <a:spcBef>
                <a:spcPts val="0"/>
              </a:spcBef>
            </a:pPr>
            <a:r>
              <a:rPr sz="800" b="1">
                <a:solidFill>
                  <a:srgbClr val="00B4D8"/>
                </a:solidFill>
              </a:rPr>
              <a:t>FINDING 1 — HIGH CONFIDENCE</a:t>
            </a:r>
          </a:p>
          <a:p>
            <a:pPr algn="l">
              <a:spcBef>
                <a:spcPts val="100"/>
              </a:spcBef>
            </a:pPr>
            <a:r>
              <a:rPr sz="900" b="0">
                <a:solidFill>
                  <a:srgbClr val="E8ECF0"/>
                </a:solidFill>
              </a:rPr>
              <a:t>Stroke arc is too horizontal. The paddle sweeps forward rather than upward through the ball. A backhand topspin requires a ~45° upward brush. What is measured is closer to a flat drive. Evidence: frames at 0.7 s, 1.9 s, 3.8 s, 5.6 s, 7.0 s, 8.3 s.</a:t>
            </a:r>
          </a:p>
          <a:p>
            <a:pPr algn="l">
              <a:spcBef>
                <a:spcPts val="400"/>
              </a:spcBef>
            </a:pPr>
            <a:r>
              <a:rPr sz="800" b="1">
                <a:solidFill>
                  <a:srgbClr val="00B4D8"/>
                </a:solidFill>
              </a:rPr>
              <a:t>FINDING 2 — HIGH CONFIDENCE</a:t>
            </a:r>
          </a:p>
          <a:p>
            <a:pPr algn="l">
              <a:spcBef>
                <a:spcPts val="100"/>
              </a:spcBef>
            </a:pPr>
            <a:r>
              <a:rPr sz="900" b="0">
                <a:solidFill>
                  <a:srgbClr val="E8ECF0"/>
                </a:solidFill>
              </a:rPr>
              <a:t>Elbow drops below wrist level during backswing preparation. Measured elbow angle (playing arm): 88°, well below optimal 100–110° for backhand preparation. This mechanically prevents the upward brush in Finding 1. Evidence: 1.5 s, 3.1 s, 7.0 s.</a:t>
            </a:r>
          </a:p>
          <a:p>
            <a:pPr algn="l">
              <a:spcBef>
                <a:spcPts val="400"/>
              </a:spcBef>
            </a:pPr>
            <a:r>
              <a:rPr sz="800" b="1">
                <a:solidFill>
                  <a:srgbClr val="00B4D8"/>
                </a:solidFill>
              </a:rPr>
              <a:t>FINDING 3 — HIGH CONFIDENCE</a:t>
            </a:r>
          </a:p>
          <a:p>
            <a:pPr algn="l">
              <a:spcBef>
                <a:spcPts val="100"/>
              </a:spcBef>
            </a:pPr>
            <a:r>
              <a:rPr sz="900" b="0">
                <a:solidFill>
                  <a:srgbClr val="E8ECF0"/>
                </a:solidFill>
              </a:rPr>
              <a:t>Torso stays upright — no forward lean into the shot. Torso lean measured at 7° (optimal: 15–20° forward at contact). Trunk and legs contribute zero drive energy. Evidence: 0.0 s, 2.2 s, 4.5 s, 6.7 s, 8.3 s.</a:t>
            </a:r>
          </a:p>
          <a:p>
            <a:pPr algn="l">
              <a:spcBef>
                <a:spcPts val="400"/>
              </a:spcBef>
            </a:pPr>
            <a:r>
              <a:rPr sz="800" b="1">
                <a:solidFill>
                  <a:srgbClr val="00B4D8"/>
                </a:solidFill>
              </a:rPr>
              <a:t>FINDING 4 — MEDIUM CONFIDENCE</a:t>
            </a:r>
          </a:p>
          <a:p>
            <a:pPr algn="l">
              <a:spcBef>
                <a:spcPts val="100"/>
              </a:spcBef>
            </a:pPr>
            <a:r>
              <a:rPr sz="900" b="0">
                <a:solidFill>
                  <a:srgbClr val="E8ECF0"/>
                </a:solidFill>
              </a:rPr>
              <a:t>No weight transfer — front foot does not step into the ball. Footwork coverage: 4% of frame. Direction changes: 2 in 10 seconds. Every stroke is played from a static base.</a:t>
            </a:r>
          </a:p>
          <a:p>
            <a:pPr algn="l">
              <a:spcBef>
                <a:spcPts val="400"/>
              </a:spcBef>
            </a:pPr>
            <a:r>
              <a:rPr sz="800" b="1">
                <a:solidFill>
                  <a:srgbClr val="00B4D8"/>
                </a:solidFill>
              </a:rPr>
              <a:t>FINDING 5 — MEDIUM CONFIDENCE</a:t>
            </a:r>
          </a:p>
          <a:p>
            <a:pPr algn="l">
              <a:spcBef>
                <a:spcPts val="100"/>
              </a:spcBef>
            </a:pPr>
            <a:r>
              <a:rPr sz="900" b="0">
                <a:solidFill>
                  <a:srgbClr val="E8ECF0"/>
                </a:solidFill>
              </a:rPr>
              <a:t>Free arm passive throughout most of the clip. Right arm hangs at the side instead of counterbalancing. Correct technique visible only in final 1 second of the clip.</a:t>
            </a:r>
          </a:p>
          <a:p>
            <a:pPr algn="l">
              <a:spcBef>
                <a:spcPts val="0"/>
              </a:spcBef>
            </a:pPr>
            <a:r>
              <a:rPr sz="400" b="0">
                <a:solidFill>
                  <a:srgbClr val="FFFFFF"/>
                </a:solidFill>
              </a:rPr>
              <a:t/>
            </a:r>
          </a:p>
          <a:p>
            <a:pPr algn="l">
              <a:spcBef>
                <a:spcPts val="0"/>
              </a:spcBef>
            </a:pPr>
            <a:r>
              <a:rPr sz="800" b="1">
                <a:solidFill>
                  <a:srgbClr val="CF0020"/>
                </a:solidFill>
              </a:rPr>
              <a:t>PRESCRIBED FOCUS</a:t>
            </a:r>
          </a:p>
          <a:p>
            <a:pPr algn="l">
              <a:spcBef>
                <a:spcPts val="100"/>
              </a:spcBef>
            </a:pPr>
            <a:r>
              <a:rPr sz="900" b="0">
                <a:solidFill>
                  <a:srgbClr val="E8ECF0"/>
                </a:solidFill>
              </a:rPr>
              <a:t>Fix the elbow-drops-on-backswing first. Once the elbow stays at waist height in preparation, the upward brush becomes structurally possible and Findings 1 and 3 will partially self-correct.</a:t>
            </a:r>
          </a:p>
        </p:txBody>
      </p:sp>
      <p:sp>
        <p:nvSpPr>
          <p:cNvPr id="8" name="Rectangle 7"/>
          <p:cNvSpPr/>
          <p:nvPr/>
        </p:nvSpPr>
        <p:spPr>
          <a:xfrm>
            <a:off x="201168" y="6583680"/>
            <a:ext cx="11786616" cy="16459"/>
          </a:xfrm>
          <a:prstGeom prst="rect">
            <a:avLst/>
          </a:prstGeom>
          <a:solidFill>
            <a:srgbClr val="CF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6601968"/>
            <a:ext cx="11786616" cy="237744"/>
          </a:xfrm>
          <a:prstGeom prst="rect">
            <a:avLst/>
          </a:prstGeom>
          <a:noFill/>
        </p:spPr>
        <p:txBody>
          <a:bodyPr wrap="square">
            <a:spAutoFit/>
          </a:bodyPr>
          <a:lstStyle/>
          <a:p>
            <a:pPr algn="ctr"/>
            <a:r>
              <a:rPr sz="800" b="0">
                <a:solidFill>
                  <a:srgbClr val="E8ECF0"/>
                </a:solidFill>
              </a:rPr>
              <a:t>CONFIDENTIAL  ·  Huawei Internal  ·  TopSpin AI Coach  ·  Built on openJiuwen Agentic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F3C"/>
        </a:solidFill>
        <a:effectLst/>
      </p:bgPr>
    </p:bg>
    <p:spTree>
      <p:nvGrpSpPr>
        <p:cNvPr id="1" name=""/>
        <p:cNvGrpSpPr/>
        <p:nvPr/>
      </p:nvGrpSpPr>
      <p:grpSpPr/>
      <p:sp>
        <p:nvSpPr>
          <p:cNvPr id="2" name="Rectangle 1"/>
          <p:cNvSpPr/>
          <p:nvPr/>
        </p:nvSpPr>
        <p:spPr>
          <a:xfrm>
            <a:off x="201168" y="201168"/>
            <a:ext cx="11786616" cy="54864"/>
          </a:xfrm>
          <a:prstGeom prst="rect">
            <a:avLst/>
          </a:prstGeom>
          <a:solidFill>
            <a:srgbClr val="CF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 y="109728"/>
            <a:ext cx="11786616" cy="640080"/>
          </a:xfrm>
          <a:prstGeom prst="rect">
            <a:avLst/>
          </a:prstGeom>
          <a:noFill/>
        </p:spPr>
        <p:txBody>
          <a:bodyPr wrap="square">
            <a:spAutoFit/>
          </a:bodyPr>
          <a:lstStyle/>
          <a:p>
            <a:pPr algn="l">
              <a:spcBef>
                <a:spcPts val="0"/>
              </a:spcBef>
            </a:pPr>
            <a:r>
              <a:rPr sz="2600" b="1">
                <a:solidFill>
                  <a:srgbClr val="FFFFFF"/>
                </a:solidFill>
              </a:rPr>
              <a:t>TopSpin AI Coach  ·  Business Case &amp; Roadmap</a:t>
            </a:r>
          </a:p>
          <a:p>
            <a:pPr algn="l">
              <a:spcBef>
                <a:spcPts val="200"/>
              </a:spcBef>
            </a:pPr>
            <a:r>
              <a:rPr sz="1200" b="0">
                <a:solidFill>
                  <a:srgbClr val="E8ECF0"/>
                </a:solidFill>
              </a:rPr>
              <a:t>Market Opportunity  |  Revenue Model  |  Phase-by-Phase Development Plan  |  Strategic Value to Huawei</a:t>
            </a:r>
          </a:p>
        </p:txBody>
      </p:sp>
      <p:sp>
        <p:nvSpPr>
          <p:cNvPr id="4" name="Rectangle 3"/>
          <p:cNvSpPr/>
          <p:nvPr/>
        </p:nvSpPr>
        <p:spPr>
          <a:xfrm>
            <a:off x="201168" y="804672"/>
            <a:ext cx="11786616" cy="16459"/>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1168" y="868680"/>
            <a:ext cx="3703320" cy="5669280"/>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MARKET OPPORTUNITY</a:t>
            </a:r>
          </a:p>
          <a:p>
            <a:pPr algn="l">
              <a:spcBef>
                <a:spcPts val="0"/>
              </a:spcBef>
            </a:pPr>
            <a:r>
              <a:rPr sz="400" b="0">
                <a:solidFill>
                  <a:srgbClr val="FFFFFF"/>
                </a:solidFill>
              </a:rPr>
              <a:t/>
            </a:r>
          </a:p>
          <a:p>
            <a:pPr algn="l">
              <a:spcBef>
                <a:spcPts val="0"/>
              </a:spcBef>
            </a:pPr>
            <a:r>
              <a:rPr sz="1000" b="0">
                <a:solidFill>
                  <a:srgbClr val="E8ECF0"/>
                </a:solidFill>
              </a:rPr>
              <a:t>Total addressable market: 300 million+ recreational racket sport players worldwide who train regularly and have no consistent access to expert coaching.</a:t>
            </a:r>
          </a:p>
          <a:p>
            <a:pPr algn="l">
              <a:spcBef>
                <a:spcPts val="0"/>
              </a:spcBef>
            </a:pPr>
            <a:r>
              <a:rPr sz="300" b="0">
                <a:solidFill>
                  <a:srgbClr val="FFFFFF"/>
                </a:solidFill>
              </a:rPr>
              <a:t/>
            </a:r>
          </a:p>
          <a:p>
            <a:pPr algn="l">
              <a:spcBef>
                <a:spcPts val="0"/>
              </a:spcBef>
            </a:pPr>
            <a:r>
              <a:rPr sz="1000" b="0">
                <a:solidFill>
                  <a:srgbClr val="E8ECF0"/>
                </a:solidFill>
              </a:rPr>
              <a:t>Table tennis alone:   875 million players globally (ITF data). Estimated 40 million serious recreational players in the price-willing tier.</a:t>
            </a:r>
          </a:p>
          <a:p>
            <a:pPr algn="l">
              <a:spcBef>
                <a:spcPts val="200"/>
              </a:spcBef>
            </a:pPr>
            <a:r>
              <a:rPr sz="1000" b="0">
                <a:solidFill>
                  <a:srgbClr val="E8ECF0"/>
                </a:solidFill>
              </a:rPr>
              <a:t>Tennis:               87 million players globally.</a:t>
            </a:r>
          </a:p>
          <a:p>
            <a:pPr algn="l">
              <a:spcBef>
                <a:spcPts val="200"/>
              </a:spcBef>
            </a:pPr>
            <a:r>
              <a:rPr sz="1000" b="0">
                <a:solidFill>
                  <a:srgbClr val="E8ECF0"/>
                </a:solidFill>
              </a:rPr>
              <a:t>Badminton:            220 million players globally.</a:t>
            </a:r>
          </a:p>
          <a:p>
            <a:pPr algn="l">
              <a:spcBef>
                <a:spcPts val="200"/>
              </a:spcBef>
            </a:pPr>
            <a:r>
              <a:rPr sz="1000" b="0">
                <a:solidFill>
                  <a:srgbClr val="E8ECF0"/>
                </a:solidFill>
              </a:rPr>
              <a:t>Padel:                25 million and fastest-growing racket sport.</a:t>
            </a:r>
          </a:p>
          <a:p>
            <a:pPr algn="l">
              <a:spcBef>
                <a:spcPts val="0"/>
              </a:spcBef>
            </a:pPr>
            <a:r>
              <a:rPr sz="300" b="0">
                <a:solidFill>
                  <a:srgbClr val="FFFFFF"/>
                </a:solidFill>
              </a:rPr>
              <a:t/>
            </a:r>
          </a:p>
          <a:p>
            <a:pPr algn="l">
              <a:spcBef>
                <a:spcPts val="0"/>
              </a:spcBef>
            </a:pPr>
            <a:r>
              <a:rPr sz="1000" b="0">
                <a:solidFill>
                  <a:srgbClr val="E8ECF0"/>
                </a:solidFill>
              </a:rPr>
              <a:t>The same AI engine that analyses table tennis can be adapted to any racket sport within one development cycle. The platform value compounds across sports.</a:t>
            </a:r>
          </a:p>
          <a:p>
            <a:pPr algn="l">
              <a:spcBef>
                <a:spcPts val="0"/>
              </a:spcBef>
            </a:pPr>
            <a:r>
              <a:rPr sz="500" b="0">
                <a:solidFill>
                  <a:srgbClr val="FFFFFF"/>
                </a:solidFill>
              </a:rPr>
              <a:t/>
            </a:r>
          </a:p>
          <a:p>
            <a:pPr algn="l">
              <a:spcBef>
                <a:spcPts val="0"/>
              </a:spcBef>
            </a:pPr>
            <a:r>
              <a:rPr sz="900" b="1">
                <a:solidFill>
                  <a:srgbClr val="CF0020"/>
                </a:solidFill>
              </a:rPr>
              <a:t>REVENUE MODEL</a:t>
            </a:r>
          </a:p>
          <a:p>
            <a:pPr algn="l">
              <a:spcBef>
                <a:spcPts val="0"/>
              </a:spcBef>
            </a:pPr>
            <a:r>
              <a:rPr sz="400" b="0">
                <a:solidFill>
                  <a:srgbClr val="FFFFFF"/>
                </a:solidFill>
              </a:rPr>
              <a:t/>
            </a:r>
          </a:p>
          <a:p>
            <a:pPr algn="l">
              <a:spcBef>
                <a:spcPts val="0"/>
              </a:spcBef>
            </a:pPr>
            <a:r>
              <a:rPr sz="1000" b="0">
                <a:solidFill>
                  <a:srgbClr val="E8ECF0"/>
                </a:solidFill>
              </a:rPr>
              <a:t>Free tier:        3 sessions per month, standard report</a:t>
            </a:r>
          </a:p>
          <a:p>
            <a:pPr algn="l">
              <a:spcBef>
                <a:spcPts val="200"/>
              </a:spcBef>
            </a:pPr>
            <a:r>
              <a:rPr sz="1000" b="0">
                <a:solidFill>
                  <a:srgbClr val="E8ECF0"/>
                </a:solidFill>
              </a:rPr>
              <a:t>Pro ($8–12/mo):   Unlimited sessions, full metrics, progress charts, export to PDF, drill video library</a:t>
            </a:r>
          </a:p>
          <a:p>
            <a:pPr algn="l">
              <a:spcBef>
                <a:spcPts val="200"/>
              </a:spcBef>
            </a:pPr>
            <a:r>
              <a:rPr sz="1000" b="0">
                <a:solidFill>
                  <a:srgbClr val="E8ECF0"/>
                </a:solidFill>
              </a:rPr>
              <a:t>Club ($40–80/mo): Coach dashboard — one coach tracks multiple students, aggregate trend analysis, session comparison across players</a:t>
            </a:r>
          </a:p>
          <a:p>
            <a:pPr algn="l">
              <a:spcBef>
                <a:spcPts val="0"/>
              </a:spcBef>
            </a:pPr>
            <a:r>
              <a:rPr sz="400" b="0">
                <a:solidFill>
                  <a:srgbClr val="FFFFFF"/>
                </a:solidFill>
              </a:rPr>
              <a:t/>
            </a:r>
          </a:p>
          <a:p>
            <a:pPr algn="l">
              <a:spcBef>
                <a:spcPts val="0"/>
              </a:spcBef>
            </a:pPr>
            <a:r>
              <a:rPr sz="1000" b="0">
                <a:solidFill>
                  <a:srgbClr val="E8ECF0"/>
                </a:solidFill>
              </a:rPr>
              <a:t>Revenue illustration: At 0.1% conversion of the serious recreational table tennis segment (40 million players) at $10/month = $40 million ARR from table tennis alone, before expansion to other sports or B2B club contracts.</a:t>
            </a:r>
          </a:p>
          <a:p>
            <a:pPr algn="l">
              <a:spcBef>
                <a:spcPts val="0"/>
              </a:spcBef>
            </a:pPr>
            <a:r>
              <a:rPr sz="500" b="0">
                <a:solidFill>
                  <a:srgbClr val="FFFFFF"/>
                </a:solidFill>
              </a:rPr>
              <a:t/>
            </a:r>
          </a:p>
          <a:p>
            <a:pPr algn="l">
              <a:spcBef>
                <a:spcPts val="0"/>
              </a:spcBef>
            </a:pPr>
            <a:r>
              <a:rPr sz="900" b="1">
                <a:solidFill>
                  <a:srgbClr val="CF0020"/>
                </a:solidFill>
              </a:rPr>
              <a:t>DEFENSIBILITY &amp; DATA MOAT</a:t>
            </a:r>
          </a:p>
          <a:p>
            <a:pPr algn="l">
              <a:spcBef>
                <a:spcPts val="0"/>
              </a:spcBef>
            </a:pPr>
            <a:r>
              <a:rPr sz="400" b="0">
                <a:solidFill>
                  <a:srgbClr val="FFFFFF"/>
                </a:solidFill>
              </a:rPr>
              <a:t/>
            </a:r>
          </a:p>
          <a:p>
            <a:pPr algn="l">
              <a:spcBef>
                <a:spcPts val="0"/>
              </a:spcBef>
            </a:pPr>
            <a:r>
              <a:rPr sz="1000" b="0">
                <a:solidFill>
                  <a:srgbClr val="E8ECF0"/>
                </a:solidFill>
              </a:rPr>
              <a:t>Every session a user completes generates labelled training data: real player video, real coaching findings, real drill outcomes. After 100,000 sessions, the model quality improvement becomes a structural competitive advantage that a new entrant cannot replicate quickly. Users also have strong retention incentive — their progress history lives in the platform.</a:t>
            </a:r>
          </a:p>
        </p:txBody>
      </p:sp>
      <p:sp>
        <p:nvSpPr>
          <p:cNvPr id="6" name="TextBox 5"/>
          <p:cNvSpPr txBox="1"/>
          <p:nvPr/>
        </p:nvSpPr>
        <p:spPr>
          <a:xfrm>
            <a:off x="4069080" y="868680"/>
            <a:ext cx="4069080" cy="5669280"/>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DEVELOPMENT ROADMAP</a:t>
            </a:r>
          </a:p>
          <a:p>
            <a:pPr algn="l">
              <a:spcBef>
                <a:spcPts val="0"/>
              </a:spcBef>
            </a:pPr>
            <a:r>
              <a:rPr sz="400" b="0">
                <a:solidFill>
                  <a:srgbClr val="FFFFFF"/>
                </a:solidFill>
              </a:rPr>
              <a:t/>
            </a:r>
          </a:p>
          <a:p>
            <a:pPr algn="l">
              <a:spcBef>
                <a:spcPts val="0"/>
              </a:spcBef>
            </a:pPr>
            <a:r>
              <a:rPr sz="900" b="1">
                <a:solidFill>
                  <a:srgbClr val="00B4D8"/>
                </a:solidFill>
              </a:rPr>
              <a:t>PHASE 1 — DEMO TO BULLETPROOF DEMO</a:t>
            </a:r>
          </a:p>
          <a:p>
            <a:pPr algn="l">
              <a:spcBef>
                <a:spcPts val="100"/>
              </a:spcBef>
            </a:pPr>
            <a:r>
              <a:rPr sz="800" b="0">
                <a:solidFill>
                  <a:srgbClr val="E8ECF0"/>
                </a:solidFill>
              </a:rPr>
              <a:t>Target: 4–6 weeks</a:t>
            </a:r>
          </a:p>
          <a:p>
            <a:pPr algn="l">
              <a:spcBef>
                <a:spcPts val="0"/>
              </a:spcBef>
            </a:pPr>
            <a:r>
              <a:rPr sz="200" b="0">
                <a:solidFill>
                  <a:srgbClr val="FFFFFF"/>
                </a:solidFill>
              </a:rPr>
              <a:t/>
            </a:r>
          </a:p>
          <a:p>
            <a:pPr algn="l">
              <a:spcBef>
                <a:spcPts val="0"/>
              </a:spcBef>
            </a:pPr>
            <a:r>
              <a:rPr sz="900" b="0">
                <a:solidFill>
                  <a:srgbClr val="E8ECF0"/>
                </a:solidFill>
              </a:rPr>
              <a:t>→ Ensure every analysis produces specific, timestamp-cited findings — eliminate any path where generic advice appears</a:t>
            </a:r>
          </a:p>
          <a:p>
            <a:pPr algn="l">
              <a:spcBef>
                <a:spcPts val="200"/>
              </a:spcBef>
            </a:pPr>
            <a:r>
              <a:rPr sz="900" b="0">
                <a:solidFill>
                  <a:srgbClr val="E8ECF0"/>
                </a:solidFill>
              </a:rPr>
              <a:t>→ Multi-session comparison UI: 'last week vs this week' visible in the app — makes subscription value immediately obvious to any stakeholder</a:t>
            </a:r>
          </a:p>
          <a:p>
            <a:pPr algn="l">
              <a:spcBef>
                <a:spcPts val="200"/>
              </a:spcBef>
            </a:pPr>
            <a:r>
              <a:rPr sz="900" b="0">
                <a:solidFill>
                  <a:srgbClr val="E8ECF0"/>
                </a:solidFill>
              </a:rPr>
              <a:t>→ Reduce analysis time to under 45 seconds for a 60-second clip</a:t>
            </a:r>
          </a:p>
          <a:p>
            <a:pPr algn="l">
              <a:spcBef>
                <a:spcPts val="200"/>
              </a:spcBef>
            </a:pPr>
            <a:r>
              <a:rPr sz="900" b="0">
                <a:solidFill>
                  <a:srgbClr val="E8ECF0"/>
                </a:solidFill>
              </a:rPr>
              <a:t>→ openJiuwen integration: replace the linear pipeline with openJiuwen-orchestrated named tool calls — each stage becomes observable and improvable</a:t>
            </a:r>
          </a:p>
          <a:p>
            <a:pPr algn="l">
              <a:spcBef>
                <a:spcPts val="200"/>
              </a:spcBef>
            </a:pPr>
            <a:r>
              <a:rPr sz="900" b="0">
                <a:solidFill>
                  <a:srgbClr val="E8ECF0"/>
                </a:solidFill>
              </a:rPr>
              <a:t>→ Polish Android + web UI to product quality; add report export to PDF and share-to-coach</a:t>
            </a:r>
          </a:p>
          <a:p>
            <a:pPr algn="l">
              <a:spcBef>
                <a:spcPts val="0"/>
              </a:spcBef>
            </a:pPr>
            <a:r>
              <a:rPr sz="500" b="0">
                <a:solidFill>
                  <a:srgbClr val="FFFFFF"/>
                </a:solidFill>
              </a:rPr>
              <a:t/>
            </a:r>
          </a:p>
          <a:p>
            <a:pPr algn="l">
              <a:spcBef>
                <a:spcPts val="0"/>
              </a:spcBef>
            </a:pPr>
            <a:r>
              <a:rPr sz="900" b="1">
                <a:solidFill>
                  <a:srgbClr val="00B4D8"/>
                </a:solidFill>
              </a:rPr>
              <a:t>PHASE 2 — MVP WITH REAL USERS</a:t>
            </a:r>
          </a:p>
          <a:p>
            <a:pPr algn="l">
              <a:spcBef>
                <a:spcPts val="100"/>
              </a:spcBef>
            </a:pPr>
            <a:r>
              <a:rPr sz="800" b="0">
                <a:solidFill>
                  <a:srgbClr val="E8ECF0"/>
                </a:solidFill>
              </a:rPr>
              <a:t>Target: 6–10 weeks after Phase 1</a:t>
            </a:r>
          </a:p>
          <a:p>
            <a:pPr algn="l">
              <a:spcBef>
                <a:spcPts val="0"/>
              </a:spcBef>
            </a:pPr>
            <a:r>
              <a:rPr sz="200" b="0">
                <a:solidFill>
                  <a:srgbClr val="FFFFFF"/>
                </a:solidFill>
              </a:rPr>
              <a:t/>
            </a:r>
          </a:p>
          <a:p>
            <a:pPr algn="l">
              <a:spcBef>
                <a:spcPts val="0"/>
              </a:spcBef>
            </a:pPr>
            <a:r>
              <a:rPr sz="900" b="0">
                <a:solidFill>
                  <a:srgbClr val="E8ECF0"/>
                </a:solidFill>
              </a:rPr>
              <a:t>→ Cloud accounts and cross-device session sync</a:t>
            </a:r>
          </a:p>
          <a:p>
            <a:pPr algn="l">
              <a:spcBef>
                <a:spcPts val="200"/>
              </a:spcBef>
            </a:pPr>
            <a:r>
              <a:rPr sz="900" b="0">
                <a:solidFill>
                  <a:srgbClr val="E8ECF0"/>
                </a:solidFill>
              </a:rPr>
              <a:t>→ Subscription payment integration (Pro and Club tiers)</a:t>
            </a:r>
          </a:p>
          <a:p>
            <a:pPr algn="l">
              <a:spcBef>
                <a:spcPts val="200"/>
              </a:spcBef>
            </a:pPr>
            <a:r>
              <a:rPr sz="900" b="0">
                <a:solidFill>
                  <a:srgbClr val="E8ECF0"/>
                </a:solidFill>
              </a:rPr>
              <a:t>→ Video robustness improvements: handle varied lighting, camera distances, multiple angles reliably</a:t>
            </a:r>
          </a:p>
          <a:p>
            <a:pPr algn="l">
              <a:spcBef>
                <a:spcPts val="200"/>
              </a:spcBef>
            </a:pPr>
            <a:r>
              <a:rPr sz="900" b="0">
                <a:solidFill>
                  <a:srgbClr val="E8ECF0"/>
                </a:solidFill>
              </a:rPr>
              <a:t>→ Stroke-type classifier: automatically detect forehand topspin, backhand, serve, push — enables per-stroke-type breakdown in the report</a:t>
            </a:r>
          </a:p>
          <a:p>
            <a:pPr algn="l">
              <a:spcBef>
                <a:spcPts val="200"/>
              </a:spcBef>
            </a:pPr>
            <a:r>
              <a:rPr sz="900" b="0">
                <a:solidFill>
                  <a:srgbClr val="E8ECF0"/>
                </a:solidFill>
              </a:rPr>
              <a:t>→ Target: 50 real paying users within 4 weeks of Phase 2 launch</a:t>
            </a:r>
          </a:p>
          <a:p>
            <a:pPr algn="l">
              <a:spcBef>
                <a:spcPts val="0"/>
              </a:spcBef>
            </a:pPr>
            <a:r>
              <a:rPr sz="500" b="0">
                <a:solidFill>
                  <a:srgbClr val="FFFFFF"/>
                </a:solidFill>
              </a:rPr>
              <a:t/>
            </a:r>
          </a:p>
          <a:p>
            <a:pPr algn="l">
              <a:spcBef>
                <a:spcPts val="0"/>
              </a:spcBef>
            </a:pPr>
            <a:r>
              <a:rPr sz="900" b="1">
                <a:solidFill>
                  <a:srgbClr val="00B4D8"/>
                </a:solidFill>
              </a:rPr>
              <a:t>PHASE 3 — PLATFORM EXPANSION</a:t>
            </a:r>
          </a:p>
          <a:p>
            <a:pPr algn="l">
              <a:spcBef>
                <a:spcPts val="100"/>
              </a:spcBef>
            </a:pPr>
            <a:r>
              <a:rPr sz="800" b="0">
                <a:solidFill>
                  <a:srgbClr val="E8ECF0"/>
                </a:solidFill>
              </a:rPr>
              <a:t>Target: 3–5 months after Phase 2</a:t>
            </a:r>
          </a:p>
          <a:p>
            <a:pPr algn="l">
              <a:spcBef>
                <a:spcPts val="0"/>
              </a:spcBef>
            </a:pPr>
            <a:r>
              <a:rPr sz="200" b="0">
                <a:solidFill>
                  <a:srgbClr val="FFFFFF"/>
                </a:solidFill>
              </a:rPr>
              <a:t/>
            </a:r>
          </a:p>
          <a:p>
            <a:pPr algn="l">
              <a:spcBef>
                <a:spcPts val="0"/>
              </a:spcBef>
            </a:pPr>
            <a:r>
              <a:rPr sz="900" b="0">
                <a:solidFill>
                  <a:srgbClr val="E8ECF0"/>
                </a:solidFill>
              </a:rPr>
              <a:t>→ Table detection via OpenCV homography: unlocks real-world position mapping, shot placement heatmaps, distance-from-table measurement</a:t>
            </a:r>
          </a:p>
          <a:p>
            <a:pPr algn="l">
              <a:spcBef>
                <a:spcPts val="200"/>
              </a:spcBef>
            </a:pPr>
            <a:r>
              <a:rPr sz="900" b="0">
                <a:solidFill>
                  <a:srgbClr val="E8ECF0"/>
                </a:solidFill>
              </a:rPr>
              <a:t>→ Voice coaching output: LLM narrates findings as spoken audio — user hears coaching while rewatching their video</a:t>
            </a:r>
          </a:p>
          <a:p>
            <a:pPr algn="l">
              <a:spcBef>
                <a:spcPts val="200"/>
              </a:spcBef>
            </a:pPr>
            <a:r>
              <a:rPr sz="900" b="0">
                <a:solidFill>
                  <a:srgbClr val="E8ECF0"/>
                </a:solidFill>
              </a:rPr>
              <a:t>→ Kirin NPU on-device mode: pose inference fully offline — no cloud required for basic analysis, Huawei-exclusive performance advantage</a:t>
            </a:r>
          </a:p>
          <a:p>
            <a:pPr algn="l">
              <a:spcBef>
                <a:spcPts val="200"/>
              </a:spcBef>
            </a:pPr>
            <a:r>
              <a:rPr sz="900" b="0">
                <a:solidFill>
                  <a:srgbClr val="E8ECF0"/>
                </a:solidFill>
              </a:rPr>
              <a:t>→ Expand to tennis and badminton — same engine, 3× addressable market</a:t>
            </a:r>
          </a:p>
          <a:p>
            <a:pPr algn="l">
              <a:spcBef>
                <a:spcPts val="200"/>
              </a:spcBef>
            </a:pPr>
            <a:r>
              <a:rPr sz="900" b="0">
                <a:solidFill>
                  <a:srgbClr val="E8ECF0"/>
                </a:solidFill>
              </a:rPr>
              <a:t>→ Community features: leaderboards, coach marketplace, club rankings</a:t>
            </a:r>
          </a:p>
        </p:txBody>
      </p:sp>
      <p:sp>
        <p:nvSpPr>
          <p:cNvPr id="7" name="TextBox 6"/>
          <p:cNvSpPr txBox="1"/>
          <p:nvPr/>
        </p:nvSpPr>
        <p:spPr>
          <a:xfrm>
            <a:off x="8339327" y="868680"/>
            <a:ext cx="3648457" cy="5669280"/>
          </a:xfrm>
          <a:prstGeom prst="rect">
            <a:avLst/>
          </a:prstGeom>
          <a:solidFill>
            <a:srgbClr val="2C3E55"/>
          </a:solidFill>
          <a:ln w="6350">
            <a:solidFill>
              <a:srgbClr val="00B4D8"/>
            </a:solidFill>
          </a:ln>
        </p:spPr>
        <p:txBody>
          <a:bodyPr wrap="square">
            <a:spAutoFit/>
          </a:bodyPr>
          <a:lstStyle/>
          <a:p>
            <a:pPr algn="l">
              <a:spcBef>
                <a:spcPts val="0"/>
              </a:spcBef>
            </a:pPr>
            <a:r>
              <a:rPr sz="900" b="1">
                <a:solidFill>
                  <a:srgbClr val="CF0020"/>
                </a:solidFill>
              </a:rPr>
              <a:t>STRATEGIC VALUE TO HUAWEI</a:t>
            </a:r>
          </a:p>
          <a:p>
            <a:pPr algn="l">
              <a:spcBef>
                <a:spcPts val="0"/>
              </a:spcBef>
            </a:pPr>
            <a:r>
              <a:rPr sz="400" b="0">
                <a:solidFill>
                  <a:srgbClr val="FFFFFF"/>
                </a:solidFill>
              </a:rPr>
              <a:t/>
            </a:r>
          </a:p>
          <a:p>
            <a:pPr algn="l">
              <a:spcBef>
                <a:spcPts val="0"/>
              </a:spcBef>
            </a:pPr>
            <a:r>
              <a:rPr sz="900" b="1">
                <a:solidFill>
                  <a:srgbClr val="00B4D8"/>
                </a:solidFill>
              </a:rPr>
              <a:t>openJiuwen Reference Vertical</a:t>
            </a:r>
          </a:p>
          <a:p>
            <a:pPr algn="l">
              <a:spcBef>
                <a:spcPts val="200"/>
              </a:spcBef>
            </a:pPr>
            <a:r>
              <a:rPr sz="900" b="0">
                <a:solidFill>
                  <a:srgbClr val="E8ECF0"/>
                </a:solidFill>
              </a:rPr>
              <a:t>Sports coaching is one of the clearest possible demonstrations of what an agentic AI platform does: it perceives, reasons, and generates — across multiple AI modalities — to produce a concrete, useful result. Unlike a chatbot demo, there is no room for vague output. The AI either correctly identifies that the player's elbow drops during backswing preparation — or it does not. This makes it an ideal and honest showcase of openJiuwen's capability.</a:t>
            </a:r>
          </a:p>
          <a:p>
            <a:pPr algn="l">
              <a:spcBef>
                <a:spcPts val="0"/>
              </a:spcBef>
            </a:pPr>
            <a:r>
              <a:rPr sz="500" b="0">
                <a:solidFill>
                  <a:srgbClr val="FFFFFF"/>
                </a:solidFill>
              </a:rPr>
              <a:t/>
            </a:r>
          </a:p>
          <a:p>
            <a:pPr algn="l">
              <a:spcBef>
                <a:spcPts val="0"/>
              </a:spcBef>
            </a:pPr>
            <a:r>
              <a:rPr sz="900" b="1">
                <a:solidFill>
                  <a:srgbClr val="00B4D8"/>
                </a:solidFill>
              </a:rPr>
              <a:t>Kirin NPU Concrete Use Case</a:t>
            </a:r>
          </a:p>
          <a:p>
            <a:pPr algn="l">
              <a:spcBef>
                <a:spcPts val="200"/>
              </a:spcBef>
            </a:pPr>
            <a:r>
              <a:rPr sz="900" b="0">
                <a:solidFill>
                  <a:srgbClr val="E8ECF0"/>
                </a:solidFill>
              </a:rPr>
              <a:t>On-device MediaPipe pose inference running on the Kirin NPU provides a performance and privacy advantage that can be marketed directly. Users do not need a cloud connection. Their video never leaves the device. Analysis runs in real time. This is a tangible, daily-use demonstration of Kirin AI silicon — not a synthetic benchmark.</a:t>
            </a:r>
          </a:p>
          <a:p>
            <a:pPr algn="l">
              <a:spcBef>
                <a:spcPts val="0"/>
              </a:spcBef>
            </a:pPr>
            <a:r>
              <a:rPr sz="500" b="0">
                <a:solidFill>
                  <a:srgbClr val="FFFFFF"/>
                </a:solidFill>
              </a:rPr>
              <a:t/>
            </a:r>
          </a:p>
          <a:p>
            <a:pPr algn="l">
              <a:spcBef>
                <a:spcPts val="0"/>
              </a:spcBef>
            </a:pPr>
            <a:r>
              <a:rPr sz="900" b="1">
                <a:solidFill>
                  <a:srgbClr val="00B4D8"/>
                </a:solidFill>
              </a:rPr>
              <a:t>HarmonyOS Ecosystem Signal</a:t>
            </a:r>
          </a:p>
          <a:p>
            <a:pPr algn="l">
              <a:spcBef>
                <a:spcPts val="200"/>
              </a:spcBef>
            </a:pPr>
            <a:r>
              <a:rPr sz="900" b="0">
                <a:solidFill>
                  <a:srgbClr val="E8ECF0"/>
                </a:solidFill>
              </a:rPr>
              <a:t>A sports coaching app with daily retention (players practice 4–5 times per week) and meaningful in-app AI workload is exactly the kind of third-party application that strengthens the HarmonyOS app ecosystem argument. It demonstrates that developers are building AI-native, multi-modal applications for Huawei hardware — not just porting existing Android apps.</a:t>
            </a:r>
          </a:p>
          <a:p>
            <a:pPr algn="l">
              <a:spcBef>
                <a:spcPts val="0"/>
              </a:spcBef>
            </a:pPr>
            <a:r>
              <a:rPr sz="500" b="0">
                <a:solidFill>
                  <a:srgbClr val="FFFFFF"/>
                </a:solidFill>
              </a:rPr>
              <a:t/>
            </a:r>
          </a:p>
          <a:p>
            <a:pPr algn="l">
              <a:spcBef>
                <a:spcPts val="0"/>
              </a:spcBef>
            </a:pPr>
            <a:r>
              <a:rPr sz="900" b="1">
                <a:solidFill>
                  <a:srgbClr val="CF0020"/>
                </a:solidFill>
              </a:rPr>
              <a:t>WHAT WE ARE ASKING FOR</a:t>
            </a:r>
          </a:p>
          <a:p>
            <a:pPr algn="l">
              <a:spcBef>
                <a:spcPts val="0"/>
              </a:spcBef>
            </a:pPr>
            <a:r>
              <a:rPr sz="400" b="0">
                <a:solidFill>
                  <a:srgbClr val="FFFFFF"/>
                </a:solidFill>
              </a:rPr>
              <a:t/>
            </a:r>
          </a:p>
          <a:p>
            <a:pPr algn="l">
              <a:spcBef>
                <a:spcPts val="0"/>
              </a:spcBef>
            </a:pPr>
            <a:r>
              <a:rPr sz="900" b="0">
                <a:solidFill>
                  <a:srgbClr val="E8ECF0"/>
                </a:solidFill>
              </a:rPr>
              <a:t>1.  Approval to proceed with Phase 1 development (4–6 weeks, single engineer)</a:t>
            </a:r>
          </a:p>
          <a:p>
            <a:pPr algn="l">
              <a:spcBef>
                <a:spcPts val="200"/>
              </a:spcBef>
            </a:pPr>
            <a:r>
              <a:rPr sz="900" b="0">
                <a:solidFill>
                  <a:srgbClr val="E8ECF0"/>
                </a:solidFill>
              </a:rPr>
              <a:t>2.  Access to openJiuwen API and documentation for Phase 1 pipeline integration</a:t>
            </a:r>
          </a:p>
          <a:p>
            <a:pPr algn="l">
              <a:spcBef>
                <a:spcPts val="200"/>
              </a:spcBef>
            </a:pPr>
            <a:r>
              <a:rPr sz="900" b="0">
                <a:solidFill>
                  <a:srgbClr val="E8ECF0"/>
                </a:solidFill>
              </a:rPr>
              <a:t>3.  Kirin NPU SDK and MediaPipe optimisation guidance for Phase 3 on-device mode</a:t>
            </a:r>
          </a:p>
          <a:p>
            <a:pPr algn="l">
              <a:spcBef>
                <a:spcPts val="200"/>
              </a:spcBef>
            </a:pPr>
            <a:r>
              <a:rPr sz="900" b="0">
                <a:solidFill>
                  <a:srgbClr val="E8ECF0"/>
                </a:solidFill>
              </a:rPr>
              <a:t>4.  One UX/UI design pass to align the app visual language with Huawei product standards before external exposure</a:t>
            </a:r>
          </a:p>
          <a:p>
            <a:pPr algn="l">
              <a:spcBef>
                <a:spcPts val="0"/>
              </a:spcBef>
            </a:pPr>
            <a:r>
              <a:rPr sz="500" b="0">
                <a:solidFill>
                  <a:srgbClr val="FFFFFF"/>
                </a:solidFill>
              </a:rPr>
              <a:t/>
            </a:r>
          </a:p>
          <a:p>
            <a:pPr algn="l">
              <a:spcBef>
                <a:spcPts val="0"/>
              </a:spcBef>
            </a:pPr>
            <a:r>
              <a:rPr sz="900" b="1">
                <a:solidFill>
                  <a:srgbClr val="E8ECF0"/>
                </a:solidFill>
              </a:rPr>
              <a:t>These four items are the critical path. Everything else is already built and working.</a:t>
            </a:r>
          </a:p>
        </p:txBody>
      </p:sp>
      <p:sp>
        <p:nvSpPr>
          <p:cNvPr id="8" name="Rectangle 7"/>
          <p:cNvSpPr/>
          <p:nvPr/>
        </p:nvSpPr>
        <p:spPr>
          <a:xfrm>
            <a:off x="201168" y="6583680"/>
            <a:ext cx="11786616" cy="16459"/>
          </a:xfrm>
          <a:prstGeom prst="rect">
            <a:avLst/>
          </a:prstGeom>
          <a:solidFill>
            <a:srgbClr val="CF0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 y="6601968"/>
            <a:ext cx="11786616" cy="237744"/>
          </a:xfrm>
          <a:prstGeom prst="rect">
            <a:avLst/>
          </a:prstGeom>
          <a:noFill/>
        </p:spPr>
        <p:txBody>
          <a:bodyPr wrap="square">
            <a:spAutoFit/>
          </a:bodyPr>
          <a:lstStyle/>
          <a:p>
            <a:pPr algn="ctr"/>
            <a:r>
              <a:rPr sz="800" b="0">
                <a:solidFill>
                  <a:srgbClr val="E8ECF0"/>
                </a:solidFill>
              </a:rPr>
              <a:t>CONFIDENTIAL  ·  Huawei Internal  ·  TopSpin AI Coach  ·  Built on openJiuwen Agentic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